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41cecb7474ae3" /><Relationship Type="http://schemas.openxmlformats.org/officeDocument/2006/relationships/extended-properties" Target="/docProps/app.xml" Id="R072ce9728bca4563" /><Relationship Type="http://schemas.openxmlformats.org/officeDocument/2006/relationships/officeDocument" Target="/ppt/presentation.xml" Id="Rce25526ef89a48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67a4228158424d"/>
  </p:sldMasterIdLst>
  <p:notesMasterIdLst>
    <p:notesMasterId xmlns:r="http://schemas.openxmlformats.org/officeDocument/2006/relationships" r:id="R15aa9281a70e43d0"/>
  </p:notesMasterIdLst>
  <p:sldIdLst>
    <p:sldId xmlns:r="http://schemas.openxmlformats.org/officeDocument/2006/relationships" id="256" r:id="Rbf9d3888775c49ea"/>
    <p:sldId xmlns:r="http://schemas.openxmlformats.org/officeDocument/2006/relationships" id="257" r:id="R18e796286e00475d"/>
    <p:sldId xmlns:r="http://schemas.openxmlformats.org/officeDocument/2006/relationships" id="258" r:id="Rec06a86cb26444b7"/>
    <p:sldId xmlns:r="http://schemas.openxmlformats.org/officeDocument/2006/relationships" id="259" r:id="R999010865c874b52"/>
    <p:sldId xmlns:r="http://schemas.openxmlformats.org/officeDocument/2006/relationships" id="260" r:id="R4f17a7b523f0471b"/>
    <p:sldId xmlns:r="http://schemas.openxmlformats.org/officeDocument/2006/relationships" id="261" r:id="R1d4540512a5a41ae"/>
    <p:sldId xmlns:r="http://schemas.openxmlformats.org/officeDocument/2006/relationships" id="262" r:id="R6f2fb392e04b4184"/>
    <p:sldId xmlns:r="http://schemas.openxmlformats.org/officeDocument/2006/relationships" id="263" r:id="R9998cd9379ac449b"/>
    <p:sldId xmlns:r="http://schemas.openxmlformats.org/officeDocument/2006/relationships" id="264" r:id="R5653ba1274054a8a"/>
    <p:sldId xmlns:r="http://schemas.openxmlformats.org/officeDocument/2006/relationships" id="265" r:id="R46624025a3ef4521"/>
    <p:sldId xmlns:r="http://schemas.openxmlformats.org/officeDocument/2006/relationships" id="266" r:id="R33c20cfa4b454ec3"/>
    <p:sldId xmlns:r="http://schemas.openxmlformats.org/officeDocument/2006/relationships" id="267" r:id="Re2daf8f72f464d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d343c0a8f34baf" /><Relationship Type="http://schemas.openxmlformats.org/officeDocument/2006/relationships/slideMaster" Target="/ppt/slideMasters/slideMaster1.xml" Id="Rf467a4228158424d" /><Relationship Type="http://schemas.openxmlformats.org/officeDocument/2006/relationships/notesMaster" Target="/ppt/notesMasters/notesMaster1.xml" Id="R15aa9281a70e43d0" /><Relationship Type="http://schemas.openxmlformats.org/officeDocument/2006/relationships/presProps" Target="/ppt/presProps.xml" Id="Ra81a44ccb9634c43" /><Relationship Type="http://schemas.openxmlformats.org/officeDocument/2006/relationships/viewProps" Target="/ppt/viewProps.xml" Id="R2b4e013d53e04c3a" /><Relationship Type="http://schemas.openxmlformats.org/officeDocument/2006/relationships/tableStyles" Target="/ppt/tableStyles.xml" Id="Rfe85f64cee014fe4" /><Relationship Type="http://schemas.openxmlformats.org/officeDocument/2006/relationships/slide" Target="/ppt/slides/slide1.xml" Id="Rbf9d3888775c49ea" /><Relationship Type="http://schemas.openxmlformats.org/officeDocument/2006/relationships/slide" Target="/ppt/slides/slide2.xml" Id="R18e796286e00475d" /><Relationship Type="http://schemas.openxmlformats.org/officeDocument/2006/relationships/slide" Target="/ppt/slides/slide3.xml" Id="Rec06a86cb26444b7" /><Relationship Type="http://schemas.openxmlformats.org/officeDocument/2006/relationships/slide" Target="/ppt/slides/slide4.xml" Id="R999010865c874b52" /><Relationship Type="http://schemas.openxmlformats.org/officeDocument/2006/relationships/slide" Target="/ppt/slides/slide5.xml" Id="R4f17a7b523f0471b" /><Relationship Type="http://schemas.openxmlformats.org/officeDocument/2006/relationships/slide" Target="/ppt/slides/slide6.xml" Id="R1d4540512a5a41ae" /><Relationship Type="http://schemas.openxmlformats.org/officeDocument/2006/relationships/slide" Target="/ppt/slides/slide7.xml" Id="R6f2fb392e04b4184" /><Relationship Type="http://schemas.openxmlformats.org/officeDocument/2006/relationships/slide" Target="/ppt/slides/slide8.xml" Id="R9998cd9379ac449b" /><Relationship Type="http://schemas.openxmlformats.org/officeDocument/2006/relationships/slide" Target="/ppt/slides/slide9.xml" Id="R5653ba1274054a8a" /><Relationship Type="http://schemas.openxmlformats.org/officeDocument/2006/relationships/slide" Target="/ppt/slides/slide10.xml" Id="R46624025a3ef4521" /><Relationship Type="http://schemas.openxmlformats.org/officeDocument/2006/relationships/slide" Target="/ppt/slides/slide11.xml" Id="R33c20cfa4b454ec3" /><Relationship Type="http://schemas.openxmlformats.org/officeDocument/2006/relationships/slide" Target="/ppt/slides/slide12.xml" Id="Re2daf8f72f46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0338a75c354b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6f5d8b3e9744fa" /><Relationship Type="http://schemas.openxmlformats.org/officeDocument/2006/relationships/notesMaster" Target="/ppt/notesMasters/notesMaster1.xml" Id="Rda272fbe5a804e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f22c341b5b40de" /><Relationship Type="http://schemas.openxmlformats.org/officeDocument/2006/relationships/notesMaster" Target="/ppt/notesMasters/notesMaster1.xml" Id="R8c0034a1a67844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9b2e6ec6aa46ee" /><Relationship Type="http://schemas.openxmlformats.org/officeDocument/2006/relationships/notesMaster" Target="/ppt/notesMasters/notesMaster1.xml" Id="R3788701598ba4f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bde5aa808b47a4" /><Relationship Type="http://schemas.openxmlformats.org/officeDocument/2006/relationships/notesMaster" Target="/ppt/notesMasters/notesMaster1.xml" Id="Rca6d9e664f0349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8c131a78af41ff" /><Relationship Type="http://schemas.openxmlformats.org/officeDocument/2006/relationships/notesMaster" Target="/ppt/notesMasters/notesMaster1.xml" Id="R853b99e50782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f55417b0644be2" /><Relationship Type="http://schemas.openxmlformats.org/officeDocument/2006/relationships/notesMaster" Target="/ppt/notesMasters/notesMaster1.xml" Id="R22925412a5434b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e42f9b76884c65" /><Relationship Type="http://schemas.openxmlformats.org/officeDocument/2006/relationships/notesMaster" Target="/ppt/notesMasters/notesMaster1.xml" Id="Rfaa337da03c842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f80a833ac74e61" /><Relationship Type="http://schemas.openxmlformats.org/officeDocument/2006/relationships/notesMaster" Target="/ppt/notesMasters/notesMaster1.xml" Id="R1201004c0cac4f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8e2d28ec8b456a" /><Relationship Type="http://schemas.openxmlformats.org/officeDocument/2006/relationships/notesMaster" Target="/ppt/notesMasters/notesMaster1.xml" Id="Raa0baf4998d741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e5a032a3d84c0d" /><Relationship Type="http://schemas.openxmlformats.org/officeDocument/2006/relationships/notesMaster" Target="/ppt/notesMasters/notesMaster1.xml" Id="Rf2da5dc2a7fe42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9a53101edf46eb" /><Relationship Type="http://schemas.openxmlformats.org/officeDocument/2006/relationships/notesMaster" Target="/ppt/notesMasters/notesMaster1.xml" Id="R5be1fdb2ef5941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cc4b29f54540c2" /><Relationship Type="http://schemas.openxmlformats.org/officeDocument/2006/relationships/notesMaster" Target="/ppt/notesMasters/notesMaster1.xml" Id="Rde8fdc2d890a4c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d97a3fe6e47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84f6a30544ba8" /><Relationship Type="http://schemas.openxmlformats.org/officeDocument/2006/relationships/slideLayout" Target="/ppt/slideLayouts/slideLayout1.xml" Id="R0a5c4cff44e74a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5c4cff44e74a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d483b791349ab" /><Relationship Type="http://schemas.openxmlformats.org/officeDocument/2006/relationships/notesSlide" Target="/ppt/notesSlides/notesSlide1.xml" Id="Re953a6ee558c4f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8dd8e18e34c05" /><Relationship Type="http://schemas.openxmlformats.org/officeDocument/2006/relationships/notesSlide" Target="/ppt/notesSlides/notesSlide2.xml" Id="R41c6d4e20f77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157ff547a4c08" /><Relationship Type="http://schemas.openxmlformats.org/officeDocument/2006/relationships/notesSlide" Target="/ppt/notesSlides/notesSlide3.xml" Id="R020f5bc56925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9c877c19a4674" /><Relationship Type="http://schemas.openxmlformats.org/officeDocument/2006/relationships/notesSlide" Target="/ppt/notesSlides/notesSlide4.xml" Id="R3846a71bc5944f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9cd5279244b91" /><Relationship Type="http://schemas.openxmlformats.org/officeDocument/2006/relationships/notesSlide" Target="/ppt/notesSlides/notesSlide5.xml" Id="Rf4f1998dcc9348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489d90caa48ce" /><Relationship Type="http://schemas.openxmlformats.org/officeDocument/2006/relationships/notesSlide" Target="/ppt/notesSlides/notesSlide6.xml" Id="R2aa7e0ae2a4c42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3a9ca7bb347dd" /><Relationship Type="http://schemas.openxmlformats.org/officeDocument/2006/relationships/notesSlide" Target="/ppt/notesSlides/notesSlide7.xml" Id="R2cb88b7916ff46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6cedcf1a4af4" /><Relationship Type="http://schemas.openxmlformats.org/officeDocument/2006/relationships/notesSlide" Target="/ppt/notesSlides/notesSlide8.xml" Id="R51c112827b2f40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c1c17cee7418f" /><Relationship Type="http://schemas.openxmlformats.org/officeDocument/2006/relationships/image" Target="/ppt/media/image.jpeg" Id="Rfc81ed81b8b245bd" /><Relationship Type="http://schemas.openxmlformats.org/officeDocument/2006/relationships/image" Target="/ppt/media/image2.jpeg" Id="R52502bddaf8043cb" /><Relationship Type="http://schemas.openxmlformats.org/officeDocument/2006/relationships/notesSlide" Target="/ppt/notesSlides/notesSlide9.xml" Id="Rb5e45531480c46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09acd5e184e7f" /><Relationship Type="http://schemas.openxmlformats.org/officeDocument/2006/relationships/image" Target="/ppt/media/image.png" Id="R2c6ca3d85b5a416f" /><Relationship Type="http://schemas.openxmlformats.org/officeDocument/2006/relationships/image" Target="/ppt/media/image2.png" Id="R1d5da803967f44b8" /><Relationship Type="http://schemas.openxmlformats.org/officeDocument/2006/relationships/notesSlide" Target="/ppt/notesSlides/notesSlide10.xml" Id="R69d5b520c6e54d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e00449381443c" /><Relationship Type="http://schemas.openxmlformats.org/officeDocument/2006/relationships/image" Target="/ppt/media/image3.png" Id="R2bc77e165a554120" /><Relationship Type="http://schemas.openxmlformats.org/officeDocument/2006/relationships/image" Target="/ppt/media/image4.png" Id="R3853348796494aa5" /><Relationship Type="http://schemas.openxmlformats.org/officeDocument/2006/relationships/notesSlide" Target="/ppt/notesSlides/notesSlide11.xml" Id="R5113922a87a545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e8eb548534509" /><Relationship Type="http://schemas.openxmlformats.org/officeDocument/2006/relationships/notesSlide" Target="/ppt/notesSlides/notesSlide12.xml" Id="R45e8ae2154d043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96DF5-D7E8-48D4-8375-F300ECF7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018F1-E415-46F6-9031-5D96847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72CF2-9B55-4FD9-B7E2-39D28339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2D Sports Posture Analysis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91321-FDB6-4DDC-AA0B-F82BC53B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Updated report and presentation after supervisor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600A1-3DBA-4A6B-B6C3-48A38B3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BD6CC-7701-4DA6-B035-A8FB2C18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67025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3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33A3A"/>
                </a:solidFill>
                <a:latin typeface="Aptos"/>
                <a:ea typeface="Aptos"/>
                <a:cs typeface="Aptos"/>
              </a:rPr>
              <a:t>Scientific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81601-82EB-48B2-AAF7-ADF55EB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4610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Research prototype for 2D image-plane posture analysis. Not full OpenCap, not calibrated 3D biomechanics, and not clinical diagnosis.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F50F6-AB25-4C7A-A670-9C481A62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DD7A6-6690-4124-A323-82382A49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67025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7A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7A78"/>
                </a:solidFill>
                <a:latin typeface="Aptos"/>
                <a:ea typeface="Aptos"/>
                <a:cs typeface="Aptos"/>
              </a:rPr>
              <a:t>Main 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95155-A3F7-4DA7-84DE-3C951C8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4229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tredmil0.mp4 | 888 frames | 30 FPS | 29.60 s | 640 x 360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A876-E21A-4AFD-8D10-743FAFCD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OpenCV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3B395-A57D-427A-82D2-ED92CF26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7A78"/>
          </a:solidFill>
          <a:ln xmlns:a="http://schemas.openxmlformats.org/drawingml/2006/main" w="0">
            <a:solidFill>
              <a:srgbClr val="1E7A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RTMLib/RTMPose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5BAFC-2EC3-4E91-8B22-0BF3BC69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ONNX Runtime CUDA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E5AD4-257B-4219-B950-1ADD0248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6E00"/>
          </a:solidFill>
          <a:ln xmlns:a="http://schemas.openxmlformats.org/drawingml/2006/main" w="0">
            <a:solidFill>
              <a:srgbClr val="B86E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2D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C92C0-6B87-44B0-8C4A-4B1E0855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1</a:t>
            </a:r>
          </a:p>
        </p:txBody>
      </p:sp>
    </p:spTree>
    <p:extLst>
      <p:ext uri="{BB962C8B-B14F-4D97-AF65-F5344CB8AC3E}">
        <p14:creationId xmlns:p14="http://schemas.microsoft.com/office/powerpoint/2010/main" val="11950806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B8920-FCDD-4145-8184-62F2E887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CEE6A-6C2F-4985-BF70-292D2752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AAA99-E262-49A3-8CD0-D7F2EB4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Pipeline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D83C1-3A5E-4E28-8104-901501FD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Reusable modules are separated from command-line scripts for reproducibility and future extension.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9E8D1-370C-424C-8D09-10566367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B62AE-0A1A-46CE-88DD-6E34B933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479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8FFBE-99E3-40E1-A88A-0A116B2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 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23857-DE19-4F15-8E44-A39D2F0B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479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72636-F4F7-4409-AC04-18DAE5C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7A78"/>
          </a:solidFill>
          <a:ln xmlns:a="http://schemas.openxmlformats.org/drawingml/2006/main" w="0">
            <a:solidFill>
              <a:srgbClr val="1E7A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RTMLib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C4014-BE99-4DBF-817C-4FD16E94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138E0-1543-4712-B4C1-9016FAC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860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7A78"/>
          </a:solidFill>
          <a:ln xmlns:a="http://schemas.openxmlformats.org/drawingml/2006/main" w="0">
            <a:solidFill>
              <a:srgbClr val="1E7A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RTMPose 2D keypoints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C97C2-E3C8-4467-8676-9B54A32C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479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2161C-1A97-4ECE-AAAD-798A07A9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6E00"/>
          </a:solidFill>
          <a:ln xmlns:a="http://schemas.openxmlformats.org/drawingml/2006/main" w="0">
            <a:solidFill>
              <a:srgbClr val="B86E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Smoothing +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16E69-5A6B-4493-86FB-ECDB50E5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479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49BF0-1591-4165-81B2-1FD9AA25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6E00"/>
          </a:solidFill>
          <a:ln xmlns:a="http://schemas.openxmlformats.org/drawingml/2006/main" w="0">
            <a:solidFill>
              <a:srgbClr val="B86E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2D biomechanics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E5BF7-3808-41A1-A8F7-911407EF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4479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70EBD-F424-400A-A639-25BA5AB0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 +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987A6-89FA-4513-AD08-1A10E81A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85205-17EB-4B16-936A-F74924D2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Repository 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49D5A-9B6C-4375-BBEC-C507DC11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419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src/hpa contains reusable pipeline logic. src/scripts contains CLI entry points. configs and models make experiments explicit.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325A1-B295-4C7B-8C7B-A5ADA166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09B20-4F5A-426F-9641-C53EEA39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7A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7A78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F3D0B-1924-4276-B11B-E9126588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4419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Each stage can be inspected independently: video, pose, smoothing, quality, features, and reporting.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86092-436D-42AD-ABA5-2F5E9C6C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2</a:t>
            </a:r>
          </a:p>
        </p:txBody>
      </p:sp>
    </p:spTree>
    <p:extLst>
      <p:ext uri="{BB962C8B-B14F-4D97-AF65-F5344CB8AC3E}">
        <p14:creationId xmlns:p14="http://schemas.microsoft.com/office/powerpoint/2010/main" val="774396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CF59A-A7A4-43F2-801C-4C7A8C85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F87A3-23BF-45A1-9138-E32CA79E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03120-44DE-48C6-951A-B4E06549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Implemented modules vs future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AD91-77A9-4187-8B5C-A2D9C45E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current system is complete as a 2D prototype; advanced modules remain future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76161-BE91-49D5-BC56-AA1CF38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F740D-BDDB-4526-99C4-EA0DDCCE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Implemented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1A657-D074-4F29-9D31-550D55A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44196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Video I/O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Frame extraction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RTMLib/RTMPose 2D pose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Live OpenCV demo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Pose smoothing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Pose quality report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OpenCap-inspired 2D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985B2-2AE8-435F-9A90-3D9B0223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3D8B8-1ECD-4AF8-B91C-13EEAD23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811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E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E00"/>
                </a:solidFill>
                <a:latin typeface="Aptos"/>
                <a:ea typeface="Aptos"/>
                <a:cs typeface="Aptos"/>
              </a:rPr>
              <a:t>Future extensions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58C6D-9F65-47D5-853D-BA7FA1D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44196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Independent detection export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Multi-person tracking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Calibrated 3D pose estimation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Action recognition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Fatigue or injury-risk scoring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Dashboard and longitudinal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4BCEC-F2E6-4487-A1AB-290440C0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3</a:t>
            </a:r>
          </a:p>
        </p:txBody>
      </p:sp>
    </p:spTree>
    <p:extLst>
      <p:ext uri="{BB962C8B-B14F-4D97-AF65-F5344CB8AC3E}">
        <p14:creationId xmlns:p14="http://schemas.microsoft.com/office/powerpoint/2010/main" val="9513281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67EFC-9E72-4A55-B4AF-67BBEE1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ED1FD-FAFE-4CC3-9416-F4B8DC9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B5CDD-A8D7-4969-B6E6-2AC766EF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C7DD4-F712-455A-A371-EA0F124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report now makes model, runtime, video, and parameter choices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14E48-271D-4235-9E24-E7463A30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2B74D-5C74-4A82-8B4E-EC180CC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data/raw/videos/tredmil0.mp4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08962-C81C-489B-B0FA-1761ED0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47FCE-3AFC-4542-9F7D-A90EADC3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Frames / FPS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72C92-BCE8-4631-AE6E-E70B2539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888 / 30 FPS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969F8-5BF3-4B90-ABCE-ECFF29AB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A78AC-1487-4538-92D3-8BA0728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Duration / resolution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4A97E-B3E2-4A33-9C6F-7C6D1F21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29.60 s / 640 x 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B0356-DDD0-4E77-8231-F8DFE9A1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98366-293D-4C59-B4D8-A5D27E06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Detector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6A273-4AE9-42EF-9B3D-0248F1C0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models/detection/yolox_m_humanart.onnx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4603E-95FD-45FB-A010-F54DE8EA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3F23E-3A23-4C29-9C4C-01418C52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Pose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93D4C-975F-41B8-803A-558EB36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models/pose/rtmpose_m_body7.onnx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1A712-5062-42E5-9439-915A713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6FEB7-692C-42E5-AF8D-638CC2B2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13789-961B-4F67-BC74-5AE2167D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ONNX Runtime / CUDA / lightweight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7DB1B-A079-4EF8-97CD-0E842422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43BA0-8B1F-44A0-B5B3-B99D2945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Threshold / smoothing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B0D9A-69AF-407D-B274-74155B1B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confidence 0.3 / window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95633-1C4C-40BD-B8BC-B3FB84E5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AA16F-C459-4088-B863-430301F0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4</a:t>
            </a:r>
          </a:p>
        </p:txBody>
      </p:sp>
    </p:spTree>
    <p:extLst>
      <p:ext uri="{BB962C8B-B14F-4D97-AF65-F5344CB8AC3E}">
        <p14:creationId xmlns:p14="http://schemas.microsoft.com/office/powerpoint/2010/main" val="9968904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E2415-C18D-49AB-A5AF-6403414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561DD-A8F2-460F-928C-4C8706A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41654-9272-4F38-8D1E-195101B1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Execution command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46AFE-E4F7-43B1-A835-F70924F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report includes the full commands needed to reproduce the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8F011-6FF3-4D88-8673-5E551F7A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B8769-B336-4E8A-B2E0-5697B220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96907-C5AC-4F22-B818-91F72530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4800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python -m venv .venv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.venv\Scripts\activate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pip install -r requirements.txt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pip install -e .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python src/scripts/download_models.py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A44CD-0957-4A9B-9724-77ADF25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33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EA66B-806C-4505-9507-AB9DB003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335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7A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7A78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A4AD2-CCC8-45FE-B3EE-A37FEDD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76425"/>
            <a:ext cx="49911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extract_frames.py --step 1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run_pose_on_frames.py --device cuda --mode lightweight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smooth_keypoints.py --window-size 5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extract_opencap_style_features.py --confidence-threshold 0.3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live_pose_demo.py --device cuda --mode lightweight --max-width 640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C9819-7DEC-4AB4-A50C-CE0BFC4B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1FE40-A101-422D-B7BB-299BDF3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Why it was added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EB454-4907-4B32-BE4E-B7BDDC8D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supervisor asked for model paths, runtime backend, video characteristics, thresholds, smoothing window, and execution commands to be easy to identify.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26E9A-960F-433B-B374-DF26356C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5</a:t>
            </a:r>
          </a:p>
        </p:txBody>
      </p:sp>
    </p:spTree>
    <p:extLst>
      <p:ext uri="{BB962C8B-B14F-4D97-AF65-F5344CB8AC3E}">
        <p14:creationId xmlns:p14="http://schemas.microsoft.com/office/powerpoint/2010/main" val="20400099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B7C3A-0ACF-4CC6-A75E-92654728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D2CA8-C32E-46B1-A798-7844BC0F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83DCE-9B11-47BF-AA80-165673C5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Offline frame-based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64E5D-268E-4F66-B720-248F5D0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frame-based pipeline is the reproducible analysis path used for the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F4D56-BC22-4EA0-BF48-CAC3243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888 frames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31CC0-FB43-45FB-94B1-8DB04CD8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28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7A78"/>
          </a:solidFill>
          <a:ln xmlns:a="http://schemas.openxmlformats.org/drawingml/2006/main" w="0">
            <a:solidFill>
              <a:srgbClr val="1E7A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15,096 keypoint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664C1-6C18-4BBF-9AA1-323367F7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 keypoints/person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27EC2-F109-46AA-A0C5-9924D1DC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2383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6E00"/>
          </a:solidFill>
          <a:ln xmlns:a="http://schemas.openxmlformats.org/drawingml/2006/main" w="0">
            <a:solidFill>
              <a:srgbClr val="B86E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 low-confidence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D24CD-4BF3-44AC-A16E-7BAF161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095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3FB87-7837-46EA-9504-B0EE31DD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Quality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0ADE3-F02D-4CB1-B404-F8344BE9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3752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Average confidence: 0.843688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Low-confidence threshold: 0.3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Low-confidence ratio: 0.0000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Smoothed rows: 15,096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Feature rows: 888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B5969-486D-4869-929F-74C85B41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4EF08-2E23-47AB-90D5-798D41B2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4BE64-B8D6-41E9-91B1-A5646D89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44196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clean single-person treadmill video is suitable for demonstrating the pipeline. Confidence is strong, but visual QA is still required before biomechanical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13A57-BCA7-4C97-BB9E-1C628BD9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6</a:t>
            </a:r>
          </a:p>
        </p:txBody>
      </p:sp>
    </p:spTree>
    <p:extLst>
      <p:ext uri="{BB962C8B-B14F-4D97-AF65-F5344CB8AC3E}">
        <p14:creationId xmlns:p14="http://schemas.microsoft.com/office/powerpoint/2010/main" val="21101259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B38AB-D764-4659-8232-8D151EB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1F1F2-3A6A-4B29-AA25-971ED75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E0089-E359-4D5D-BBEF-D8A20C58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Live pose demo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534E5-B078-4CDC-8E10-97CEB687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Live visualization is useful for demonstrations; offline outputs are stronger for reproducible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6ADF9-C17B-481F-8F41-7F96E0AF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EF7E4-6191-41FB-9189-B310986F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7A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7A78"/>
                </a:solidFill>
                <a:latin typeface="Aptos"/>
                <a:ea typeface="Aptos"/>
                <a:cs typeface="Aptos"/>
              </a:rPr>
              <a:t>Live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49F53-87FB-40CB-90AC-A922D9C2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36576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Open video frame-by-frame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Resize large frames for speed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Run RTMLib/RTMPose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Draw skeleton and FPS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Display with OpenCV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Quit with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F8369-B23F-4972-9ABB-94D1C872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42C50-02D8-4326-819E-FB776ED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335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E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E00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C6EFF-5A6B-4C6B-8170-C18DEB20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76425"/>
            <a:ext cx="4991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Live mode prioritizes responsiveness. It can save CSV/video outputs, but batch processing remains better for debugging, plots, and final reported results.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BBA7A-FA74-4D32-AF3E-31396129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5334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87A88-499F-4537-B308-31CC6711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Demo 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1E68B-4B85-4A71-B431-727E7A90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24300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python src/scripts/live_pose_demo.py --video data/raw/videos/tredmil0.mp4 --device cuda --mode lightweight --max-width 640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FF109-0DF7-413F-B67E-A9A0469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7</a:t>
            </a:r>
          </a:p>
        </p:txBody>
      </p:sp>
    </p:spTree>
    <p:extLst>
      <p:ext uri="{BB962C8B-B14F-4D97-AF65-F5344CB8AC3E}">
        <p14:creationId xmlns:p14="http://schemas.microsoft.com/office/powerpoint/2010/main" val="18712647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B65896-71F4-417F-8872-22B7EA1C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143C0-4A26-4035-9FE7-CF86596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2F9D3-7E25-4968-830D-2DB9EE32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Live vs offline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A5993-DDC4-4ACB-AF95-284A4F9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Both workflows are useful, but they answer different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48AD1-9E4C-4D93-AD8C-50AAFAB4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Criterion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2117A-8582-47F1-B403-1766D5FC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7A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7A78"/>
                </a:solidFill>
                <a:latin typeface="Aptos"/>
                <a:ea typeface="Aptos"/>
                <a:cs typeface="Aptos"/>
              </a:rPr>
              <a:t>Live pose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6D628-6E6D-4364-85D7-96337AC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Offline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B4EF7-4C97-4171-B22C-0B3CC79C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6C48F-D68A-4065-BD0E-50149B4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Real-time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25BA0-B740-4F6D-B1D5-E306538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Reproducible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72E66-0EEE-4245-8790-3F12AC8D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03980-731D-4054-BC9C-A094447C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C5FFF-D548-4287-A5EC-13D96C3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193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High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4ADB9-A9DE-46C8-B61D-FA03F6E4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Secondary to output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C5B04-AC69-441E-B00B-90B68F8F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864D7-2167-4E29-ADB4-381D8862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Debugging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DB766-2FB0-472A-9F55-4BC9566D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Visual unless saved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165B6-D424-42D2-9F21-84222E0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Strong intermediate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5CCA6-5CA4-4AA6-A701-9758CA9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23E5B-A88F-4DC1-BFA1-7C94689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38569-C97D-4B7D-B514-CD5FA51A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Temporary window or saved video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BE140-6871-4BFE-A8A3-20DA9EE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CSV, images, plots,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C6C79-D3C4-4DEF-9FD1-9E527CED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8D5F1-1795-4D51-82AF-584BFF83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Best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BFB60-A670-42C1-A02E-8668F4B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9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Meeting/demo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BB8F-9D04-4955-9D8C-D290E40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Academic results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1C7E4-D648-4EA7-80C6-7A41C8C0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C16A65-7BEB-40DE-A8A4-5B5E5AD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8</a:t>
            </a:r>
          </a:p>
        </p:txBody>
      </p:sp>
    </p:spTree>
    <p:extLst>
      <p:ext uri="{BB962C8B-B14F-4D97-AF65-F5344CB8AC3E}">
        <p14:creationId xmlns:p14="http://schemas.microsoft.com/office/powerpoint/2010/main" val="104550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DDAA4C-5CA4-43B0-BF48-6C83AC88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35480-D30D-4F8E-9523-7C0AA99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8DFE0-98EB-470A-B704-C337192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Annotated skeleton frames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9F9DB-AFA2-45CF-BBF2-3BC008C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Visual QA checks whether keypoints attach to the visible body, not only whether confidence is high.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ed81b8b245bd"/>
          <a:stretch xmlns:a="http://schemas.openxmlformats.org/drawingml/2006/main"/>
        </p:blipFill>
        <p:spPr>
          <a:xfrm xmlns:a="http://schemas.openxmlformats.org/drawingml/2006/main">
            <a:off x="904875" y="1381125"/>
            <a:ext cx="4762500" cy="3714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02bddaf8043cb"/>
          <a:stretch xmlns:a="http://schemas.openxmlformats.org/drawingml/2006/main"/>
        </p:blipFill>
        <p:spPr>
          <a:xfrm xmlns:a="http://schemas.openxmlformats.org/drawingml/2006/main">
            <a:off x="6524625" y="1381125"/>
            <a:ext cx="476250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6686B-8981-4D1C-8084-E4797DF1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Frame 000014: early gait 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5801C-A84B-427E-BC35-BC1D5001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Frame 000375: different gait 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FB6F4-F542-4D11-9C45-9C18BC21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9</a:t>
            </a:r>
          </a:p>
        </p:txBody>
      </p:sp>
    </p:spTree>
    <p:extLst>
      <p:ext uri="{BB962C8B-B14F-4D97-AF65-F5344CB8AC3E}">
        <p14:creationId xmlns:p14="http://schemas.microsoft.com/office/powerpoint/2010/main" val="3053478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ECB9D-A43A-4C0E-ACA7-A3C0BECB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65361-899B-496F-97BB-78CDACDC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A8C28-1930-4652-A77E-267AD94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2D knee and hip angle plots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CB485-AC37-4979-AC24-B13C60DD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plots show cyclic image-plane motion across the treadmill sequence.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ca3d85b5a416f"/>
          <a:stretch xmlns:a="http://schemas.openxmlformats.org/drawingml/2006/main"/>
        </p:blipFill>
        <p:spPr>
          <a:xfrm xmlns:a="http://schemas.openxmlformats.org/drawingml/2006/main">
            <a:off x="666750" y="1333500"/>
            <a:ext cx="5143500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da803967f44b8"/>
          <a:stretch xmlns:a="http://schemas.openxmlformats.org/drawingml/2006/main"/>
        </p:blipFill>
        <p:spPr>
          <a:xfrm xmlns:a="http://schemas.openxmlformats.org/drawingml/2006/main">
            <a:off x="6429375" y="133350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816B8-AD51-4434-88F5-82B9384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90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74FA6-07A8-4EC8-8895-F8BECC85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43525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4B6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23673-0DA1-41FE-AC52-589B485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6425"/>
            <a:ext cx="9563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Knee angles vary strongly during running. Hip angles are more bounded. Both are 2D surrogate features, not validated 3D joint kinematics.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0C03D-4B1A-48CC-9920-78C3C502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10</a:t>
            </a:r>
          </a:p>
        </p:txBody>
      </p:sp>
    </p:spTree>
    <p:extLst>
      <p:ext uri="{BB962C8B-B14F-4D97-AF65-F5344CB8AC3E}">
        <p14:creationId xmlns:p14="http://schemas.microsoft.com/office/powerpoint/2010/main" val="6214155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B05EE-9788-46DC-B7A8-D81FBE8F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4CD4F-3AA5-4FBB-A715-399FA3D3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9D57F-9DB8-4765-97A4-0CA265C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Trunk lean and instantaneous angle difference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A9D6E-6A78-4897-8BB3-38A523B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Angle-difference should not be described as clinical asymmetry without gait-phase matching.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77e165a554120"/>
          <a:stretch xmlns:a="http://schemas.openxmlformats.org/drawingml/2006/main"/>
        </p:blipFill>
        <p:spPr>
          <a:xfrm xmlns:a="http://schemas.openxmlformats.org/drawingml/2006/main">
            <a:off x="666750" y="1333500"/>
            <a:ext cx="5143500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3348796494aa5"/>
          <a:stretch xmlns:a="http://schemas.openxmlformats.org/drawingml/2006/main"/>
        </p:blipFill>
        <p:spPr>
          <a:xfrm xmlns:a="http://schemas.openxmlformats.org/drawingml/2006/main">
            <a:off x="6429375" y="133350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F9444-4B26-45F7-8039-B22C5D74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90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C9D96-D568-411D-9B21-AFBBB31B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43525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3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33A3A"/>
                </a:solidFill>
                <a:latin typeface="Aptos"/>
                <a:ea typeface="Aptos"/>
                <a:cs typeface="Aptos"/>
              </a:rPr>
              <a:t>Caution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9FC3D-7BE5-4D8A-AA5F-FB235728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6425"/>
            <a:ext cx="9563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current system does not segment gait cycles. Large same-frame knee differences can be normal during running because the two legs are in different phases.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43A1B-EF08-4E9A-8A73-5F785D96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11</a:t>
            </a:r>
          </a:p>
        </p:txBody>
      </p:sp>
    </p:spTree>
    <p:extLst>
      <p:ext uri="{BB962C8B-B14F-4D97-AF65-F5344CB8AC3E}">
        <p14:creationId xmlns:p14="http://schemas.microsoft.com/office/powerpoint/2010/main" val="15297914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1905C-C2F6-4DB2-8230-A7A259A0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F80FF-96DD-4C4E-AE5A-8DED44C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B"/>
          </a:solidFill>
          <a:ln xmlns:a="http://schemas.openxmlformats.org/drawingml/2006/main" w="0">
            <a:solidFill>
              <a:srgbClr val="244B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21E39-6C4C-4F1E-A475-8794F1B6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Limitations and next development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EB941-A9E9-4663-BDA4-A30C7D9E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next version should improve validation and reproducibility before adding risk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36A13-6A8C-4D3A-9098-7A1F943F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107BD-7CC0-4B1F-B6F5-817C3361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3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33A3A"/>
                </a:solidFill>
                <a:latin typeface="Aptos"/>
                <a:ea typeface="Aptos"/>
                <a:cs typeface="Aptos"/>
              </a:rPr>
              <a:t>Current 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A3D2B-DEB7-405C-ABEF-5C6E9A19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44196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2D image-plane angles only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 calibrated 3D reconstruction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 independent tracking export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 clinical/injury-risk validation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Smoothing can blur fast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6698A-2677-4296-9C33-DA324DB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ACDC2-0C45-4CDF-84C2-3E2F9EDD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335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Recommended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7451E-B978-4A65-9ED8-FA19662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44196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Add experiment metadata export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Add per-joint confidence summaries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Add visual QA frame selection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Benchmark live vs batch speed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Prepare future Pose2Sim/OpenCap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A339D-BD5B-4096-B1F8-B600197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Conclusion: the repository is ready as a clear 2D prototype and demo pipeline, with honest boundaries and a practical path toward future validated biomechanics.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C12AD-D0C9-4BBB-A6CC-1C9371CF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HCI for Human Posture Analysis | 12</a:t>
            </a:r>
          </a:p>
        </p:txBody>
      </p:sp>
    </p:spTree>
    <p:extLst>
      <p:ext uri="{BB962C8B-B14F-4D97-AF65-F5344CB8AC3E}">
        <p14:creationId xmlns:p14="http://schemas.microsoft.com/office/powerpoint/2010/main" val="2099510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2026-06-09T20:51:54.2290000Z</dcterms:created>
  <dcterms:modified xsi:type="dcterms:W3CDTF">2026-06-09T20:51:54.2290000Z</dcterms:modified>
</coreProperties>
</file>